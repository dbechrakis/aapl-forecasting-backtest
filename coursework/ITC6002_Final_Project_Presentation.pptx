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72" r:id="rId9"/>
    <p:sldId id="261" r:id="rId10"/>
    <p:sldId id="262" r:id="rId11"/>
    <p:sldId id="263" r:id="rId12"/>
    <p:sldId id="273" r:id="rId13"/>
    <p:sldId id="274" r:id="rId14"/>
    <p:sldId id="276" r:id="rId15"/>
    <p:sldId id="265" r:id="rId16"/>
    <p:sldId id="266" r:id="rId17"/>
    <p:sldId id="267" r:id="rId18"/>
    <p:sldId id="277" r:id="rId19"/>
    <p:sldId id="268" r:id="rId20"/>
    <p:sldId id="269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92736-A08F-49C7-BDDA-1A23E2E34FD5}" type="datetimeFigureOut">
              <a:rPr lang="el-GR" smtClean="0"/>
              <a:t>15/12/2025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9C8D7-5AE7-422F-99A2-65BC704039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2952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9C8D7-5AE7-422F-99A2-65BC70403976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89240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308" y="97692"/>
            <a:ext cx="7772400" cy="1353039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l-G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Exploratory Data Analysis and Forecasting of Apple Inc. (AAPL) Stock Price</a:t>
            </a:r>
            <a:endParaRPr lang="en-US" altLang="el-GR" sz="3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7108" y="1644160"/>
            <a:ext cx="6400800" cy="4404947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ITC 6002: Exploring and Analyzing Data</a:t>
            </a:r>
          </a:p>
          <a:p>
            <a:r>
              <a:rPr lang="en-US" sz="2800" dirty="0"/>
              <a:t> Final Project</a:t>
            </a:r>
          </a:p>
          <a:p>
            <a:endParaRPr sz="2800" dirty="0"/>
          </a:p>
          <a:p>
            <a:r>
              <a:rPr lang="en-US" dirty="0"/>
              <a:t>Team Members: </a:t>
            </a:r>
            <a:r>
              <a:rPr lang="en-US" dirty="0" err="1"/>
              <a:t>Nikitas</a:t>
            </a:r>
            <a:r>
              <a:rPr lang="en-US" dirty="0"/>
              <a:t> </a:t>
            </a:r>
            <a:r>
              <a:rPr lang="en-US" dirty="0" err="1"/>
              <a:t>Valtadoros</a:t>
            </a:r>
            <a:r>
              <a:rPr lang="en-US" dirty="0"/>
              <a:t>, David Frederick, and </a:t>
            </a:r>
            <a:r>
              <a:rPr lang="en-US" dirty="0" err="1"/>
              <a:t>Dimitrios</a:t>
            </a:r>
            <a:r>
              <a:rPr lang="en-US" dirty="0"/>
              <a:t> </a:t>
            </a:r>
            <a:r>
              <a:rPr lang="en-US" dirty="0" err="1"/>
              <a:t>Bechrakis</a:t>
            </a:r>
            <a:endParaRPr lang="el-GR" dirty="0"/>
          </a:p>
          <a:p>
            <a:endParaRPr sz="2800" dirty="0"/>
          </a:p>
          <a:p>
            <a:r>
              <a:rPr lang="en-US" dirty="0" err="1"/>
              <a:t>Deree</a:t>
            </a:r>
            <a:r>
              <a:rPr lang="en-US" dirty="0"/>
              <a:t> – The American College of Greece</a:t>
            </a:r>
          </a:p>
          <a:p>
            <a:endParaRPr lang="el-GR" dirty="0"/>
          </a:p>
          <a:p>
            <a:r>
              <a:rPr lang="en-US" dirty="0"/>
              <a:t>Dr. Dimitris </a:t>
            </a:r>
            <a:r>
              <a:rPr lang="en-US" dirty="0" err="1"/>
              <a:t>Milioris</a:t>
            </a:r>
            <a:endParaRPr lang="en-US" dirty="0"/>
          </a:p>
          <a:p>
            <a:endParaRPr lang="el-GR" dirty="0"/>
          </a:p>
          <a:p>
            <a:r>
              <a:rPr lang="en-US" dirty="0"/>
              <a:t>December 16, 2025</a:t>
            </a:r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Objective &amp; Dataset</a:t>
            </a:r>
          </a:p>
          <a:p>
            <a:r>
              <a:t>Part A: Data Preparation</a:t>
            </a:r>
          </a:p>
          <a:p>
            <a:r>
              <a:t>Part B: Year 1 Analysis (The Bull Run)</a:t>
            </a:r>
          </a:p>
          <a:p>
            <a:r>
              <a:t>Part C: Year 2 Analysis (The Volatile Recovery)</a:t>
            </a:r>
          </a:p>
          <a:p>
            <a:r>
              <a:t>Part D: Comparative Analysis</a:t>
            </a:r>
          </a:p>
          <a:p>
            <a:r>
              <a:t>Part E: Peer-Adjusted Forecasting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Goal: Forecast AAPL stock prices</a:t>
            </a:r>
            <a:r>
              <a:rPr lang="en-US" dirty="0"/>
              <a:t> for years 2023 and 2024</a:t>
            </a:r>
            <a:r>
              <a:rPr dirty="0"/>
              <a:t> using Time Series Analysis.</a:t>
            </a:r>
          </a:p>
          <a:p>
            <a:r>
              <a:rPr dirty="0"/>
              <a:t>The Challenge: </a:t>
            </a:r>
            <a:r>
              <a:rPr lang="en-US" dirty="0"/>
              <a:t>Predict the closing price of Apple stock for 1-11 months ahead of our training data.</a:t>
            </a:r>
          </a:p>
          <a:p>
            <a:r>
              <a:rPr lang="en-US" dirty="0"/>
              <a:t>Dataset Choice: AAPL stock as financial data are often characterized by noise and lack of seasonality.</a:t>
            </a:r>
            <a:endParaRPr dirty="0"/>
          </a:p>
          <a:p>
            <a:r>
              <a:rPr dirty="0"/>
              <a:t>Tools: Python (Pandas, </a:t>
            </a:r>
            <a:r>
              <a:rPr dirty="0" err="1"/>
              <a:t>Statsmodels</a:t>
            </a:r>
            <a:r>
              <a:rPr dirty="0"/>
              <a:t>, Holt-Winters</a:t>
            </a:r>
            <a:r>
              <a:rPr lang="en-US" dirty="0"/>
              <a:t>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A: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5578"/>
          </a:xfrm>
        </p:spPr>
        <p:txBody>
          <a:bodyPr>
            <a:normAutofit/>
          </a:bodyPr>
          <a:lstStyle/>
          <a:p>
            <a:r>
              <a:rPr dirty="0"/>
              <a:t>Source: Yahoo Finance (Daily Data).</a:t>
            </a:r>
          </a:p>
          <a:p>
            <a:r>
              <a:rPr dirty="0"/>
              <a:t>Cleaning: Handled missing values (business days).</a:t>
            </a:r>
          </a:p>
          <a:p>
            <a:r>
              <a:rPr dirty="0"/>
              <a:t>Outlier Detection: Used Z-Score Analysis.</a:t>
            </a:r>
          </a:p>
          <a:p>
            <a:r>
              <a:rPr dirty="0"/>
              <a:t>Result: 7 significant outliers identified </a:t>
            </a:r>
            <a:endParaRPr lang="en-US" dirty="0"/>
          </a:p>
          <a:p>
            <a:r>
              <a:rPr dirty="0"/>
              <a:t>Decision: Kept them to reflect genuine market volatility.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Outliers</a:t>
            </a:r>
            <a:endParaRPr lang="el-GR" dirty="0"/>
          </a:p>
        </p:txBody>
      </p:sp>
      <p:pic>
        <p:nvPicPr>
          <p:cNvPr id="4" name="Picture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879" y="1821083"/>
            <a:ext cx="6304436" cy="292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Ορθογώνιο 4"/>
          <p:cNvSpPr/>
          <p:nvPr/>
        </p:nvSpPr>
        <p:spPr>
          <a:xfrm>
            <a:off x="1225685" y="4965877"/>
            <a:ext cx="61585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Decision: Kept them to</a:t>
            </a:r>
            <a:r>
              <a:rPr lang="en-US" dirty="0"/>
              <a:t> </a:t>
            </a:r>
            <a:r>
              <a:rPr lang="en-US" sz="2400" dirty="0"/>
              <a:t>ensure our model evaluation reflected true market conditions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77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 B: </a:t>
            </a:r>
            <a:r>
              <a:rPr lang="en-US" dirty="0"/>
              <a:t>Year 1 Analysis </a:t>
            </a:r>
            <a:r>
              <a:rPr dirty="0"/>
              <a:t>(2023)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2191" y="1405303"/>
            <a:ext cx="8759618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Methodology</a:t>
            </a:r>
            <a:endParaRPr kumimoji="0" lang="en-US" altLang="el-G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January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(21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Days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Test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Feb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-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Year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Naïve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Moving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(n=2), SES </a:t>
            </a:r>
            <a:r>
              <a:rPr kumimoji="0" lang="en-US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=0.9).</a:t>
            </a:r>
            <a:endParaRPr kumimoji="0" lang="en-US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Optimization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Results</a:t>
            </a:r>
            <a:endParaRPr kumimoji="0" lang="el-GR" alt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 </a:t>
            </a:r>
            <a:r>
              <a:rPr kumimoji="0" lang="en-US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a=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0.9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indicates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prioritizes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recent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essentially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mimicking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Naïve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approach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Performance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(The </a:t>
            </a: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Problem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endParaRPr kumimoji="0" lang="el-GR" alt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MAPE: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~17.6% (High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Error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Observation</a:t>
            </a:r>
            <a:endParaRPr lang="en-US" altLang="el-GR" sz="24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produced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"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flatline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forecast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completely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missing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strong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upward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$143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$190.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Year 1 Models Comparison (2023)</a:t>
            </a:r>
            <a:endParaRPr lang="el-GR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28408"/>
            <a:ext cx="4795736" cy="5116749"/>
          </a:xfrm>
          <a:prstGeom prst="rect">
            <a:avLst/>
          </a:prstGeom>
        </p:spPr>
      </p:pic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09395" y="1447707"/>
            <a:ext cx="3320946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Context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Strong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Bull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Run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rose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$143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$190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Naïve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Moving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(n=2), SES (a=0.9).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Forecast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Produced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flatline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assuming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history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repeats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itself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Completely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missed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upward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momentum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Error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High MAPE of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~17.62%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19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Year 1 Metrics Level (2023)</a:t>
            </a:r>
            <a:endParaRPr lang="el-GR" dirty="0"/>
          </a:p>
        </p:txBody>
      </p:sp>
      <p:pic>
        <p:nvPicPr>
          <p:cNvPr id="7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4737370" cy="3270250"/>
          </a:xfrm>
          <a:prstGeom prst="rect">
            <a:avLst/>
          </a:prstGeom>
        </p:spPr>
      </p:pic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68925" y="1417638"/>
            <a:ext cx="359694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Winner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Adjusted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MAD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7.18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MAPE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4.08%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trajectory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oscillations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Loser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MAPE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~17.6%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breakout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457200" y="438049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Verdict</a:t>
            </a:r>
            <a:r>
              <a:rPr lang="el-GR" altLang="el-GR" b="1" dirty="0">
                <a:latin typeface="Arial" panose="020B0604020202020204" pitchFamily="34" charset="0"/>
              </a:rPr>
              <a:t>:</a:t>
            </a:r>
            <a:r>
              <a:rPr lang="el-GR" altLang="el-GR" dirty="0">
                <a:latin typeface="Arial" panose="020B0604020202020204" pitchFamily="34" charset="0"/>
              </a:rPr>
              <a:t> In a </a:t>
            </a:r>
            <a:r>
              <a:rPr lang="el-GR" altLang="el-GR" dirty="0" err="1">
                <a:latin typeface="Arial" panose="020B0604020202020204" pitchFamily="34" charset="0"/>
              </a:rPr>
              <a:t>trending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market</a:t>
            </a:r>
            <a:r>
              <a:rPr lang="el-GR" altLang="el-GR" dirty="0">
                <a:latin typeface="Arial" panose="020B0604020202020204" pitchFamily="34" charset="0"/>
              </a:rPr>
              <a:t> (</a:t>
            </a:r>
            <a:r>
              <a:rPr lang="el-GR" altLang="el-GR" dirty="0" err="1">
                <a:latin typeface="Arial" panose="020B0604020202020204" pitchFamily="34" charset="0"/>
              </a:rPr>
              <a:t>Bull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Run</a:t>
            </a:r>
            <a:r>
              <a:rPr lang="el-GR" altLang="el-GR" dirty="0">
                <a:latin typeface="Arial" panose="020B0604020202020204" pitchFamily="34" charset="0"/>
              </a:rPr>
              <a:t>), </a:t>
            </a:r>
            <a:r>
              <a:rPr lang="el-GR" altLang="el-GR" dirty="0" err="1">
                <a:latin typeface="Arial" panose="020B0604020202020204" pitchFamily="34" charset="0"/>
              </a:rPr>
              <a:t>identifying</a:t>
            </a:r>
            <a:r>
              <a:rPr lang="el-GR" altLang="el-GR" dirty="0">
                <a:latin typeface="Arial" panose="020B0604020202020204" pitchFamily="34" charset="0"/>
              </a:rPr>
              <a:t> the </a:t>
            </a:r>
            <a:r>
              <a:rPr lang="el-GR" altLang="el-GR" b="1" dirty="0" err="1">
                <a:latin typeface="Arial" panose="020B0604020202020204" pitchFamily="34" charset="0"/>
              </a:rPr>
              <a:t>deterministic</a:t>
            </a:r>
            <a:r>
              <a:rPr lang="el-GR" altLang="el-GR" b="1" dirty="0">
                <a:latin typeface="Arial" panose="020B0604020202020204" pitchFamily="34" charset="0"/>
              </a:rPr>
              <a:t> </a:t>
            </a:r>
            <a:r>
              <a:rPr lang="el-GR" altLang="el-GR" b="1" dirty="0" err="1">
                <a:latin typeface="Arial" panose="020B0604020202020204" pitchFamily="34" charset="0"/>
              </a:rPr>
              <a:t>trend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is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critical</a:t>
            </a:r>
            <a:r>
              <a:rPr lang="el-GR" altLang="el-GR" dirty="0">
                <a:latin typeface="Arial" panose="020B0604020202020204" pitchFamily="34" charset="0"/>
              </a:rPr>
              <a:t> for </a:t>
            </a:r>
            <a:r>
              <a:rPr lang="el-GR" altLang="el-GR" dirty="0" err="1">
                <a:latin typeface="Arial" panose="020B0604020202020204" pitchFamily="34" charset="0"/>
              </a:rPr>
              <a:t>accuracy</a:t>
            </a:r>
            <a:r>
              <a:rPr lang="el-GR" altLang="el-GR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21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 B: Trend Models (2023)</a:t>
            </a:r>
          </a:p>
        </p:txBody>
      </p:sp>
      <p:pic>
        <p:nvPicPr>
          <p:cNvPr id="4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283"/>
            <a:ext cx="4513634" cy="475488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078413" y="1464887"/>
            <a:ext cx="379245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Holt’s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(p=21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slope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collapsed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17.6%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4.08%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31.56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7.18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To summarize Year 1, the numbers tell the whole story. On one hand, the Level models failed significantly with a 17% error because they couldn't see the trend. On the other hand, the Seasonal Adjusted model was the clear winner. By mathematically modeling both the linear growth and the 21-day cycle, it achieved a remarkably low error of just 4.08%. This proves that for 2023, the 'Trend' was the most significant component of the price action.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 C: </a:t>
            </a:r>
            <a:r>
              <a:rPr lang="en-US" dirty="0"/>
              <a:t>Year 2 Analysis </a:t>
            </a:r>
            <a:r>
              <a:rPr dirty="0"/>
              <a:t>(2024)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70745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Dip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-and-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rallied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Surprisingly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MAPE: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13.58%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17.6% in 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MA(n=2):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(13.25%)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dip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dip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kept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explosive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Year 2 Models Comparison (2024)</a:t>
            </a:r>
            <a:endParaRPr lang="el-GR" dirty="0"/>
          </a:p>
        </p:txBody>
      </p:sp>
      <p:pic>
        <p:nvPicPr>
          <p:cNvPr id="5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63" y="1532106"/>
            <a:ext cx="5126477" cy="4927060"/>
          </a:xfrm>
          <a:prstGeom prst="rect">
            <a:avLst/>
          </a:prstGeom>
        </p:spPr>
      </p:pic>
      <p:sp>
        <p:nvSpPr>
          <p:cNvPr id="6" name="Θέση περιεχομένου 5"/>
          <p:cNvSpPr>
            <a:spLocks noGrp="1"/>
          </p:cNvSpPr>
          <p:nvPr>
            <p:ph idx="1"/>
          </p:nvPr>
        </p:nvSpPr>
        <p:spPr>
          <a:xfrm>
            <a:off x="5359940" y="1600200"/>
            <a:ext cx="3326860" cy="4525963"/>
          </a:xfrm>
        </p:spPr>
        <p:txBody>
          <a:bodyPr>
            <a:normAutofit fontScale="55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Context</a:t>
            </a:r>
            <a:r>
              <a:rPr lang="el-GR" altLang="el-GR" b="1" dirty="0">
                <a:latin typeface="Arial" panose="020B0604020202020204" pitchFamily="34" charset="0"/>
              </a:rPr>
              <a:t>:</a:t>
            </a:r>
            <a:r>
              <a:rPr lang="el-GR" altLang="el-GR" dirty="0">
                <a:latin typeface="Arial" panose="020B0604020202020204" pitchFamily="34" charset="0"/>
              </a:rPr>
              <a:t> A "</a:t>
            </a:r>
            <a:r>
              <a:rPr lang="el-GR" altLang="el-GR" dirty="0" err="1">
                <a:latin typeface="Arial" panose="020B0604020202020204" pitchFamily="34" charset="0"/>
              </a:rPr>
              <a:t>Dip</a:t>
            </a:r>
            <a:r>
              <a:rPr lang="el-GR" altLang="el-GR" dirty="0">
                <a:latin typeface="Arial" panose="020B0604020202020204" pitchFamily="34" charset="0"/>
              </a:rPr>
              <a:t>-and-</a:t>
            </a:r>
            <a:r>
              <a:rPr lang="el-GR" altLang="el-GR" dirty="0" err="1">
                <a:latin typeface="Arial" panose="020B0604020202020204" pitchFamily="34" charset="0"/>
              </a:rPr>
              <a:t>Recover</a:t>
            </a:r>
            <a:r>
              <a:rPr lang="el-GR" altLang="el-GR" dirty="0">
                <a:latin typeface="Arial" panose="020B0604020202020204" pitchFamily="34" charset="0"/>
              </a:rPr>
              <a:t>" </a:t>
            </a:r>
            <a:r>
              <a:rPr lang="el-GR" altLang="el-GR" dirty="0" err="1">
                <a:latin typeface="Arial" panose="020B0604020202020204" pitchFamily="34" charset="0"/>
              </a:rPr>
              <a:t>year</a:t>
            </a:r>
            <a:r>
              <a:rPr lang="el-GR" altLang="el-GR" dirty="0">
                <a:latin typeface="Arial" panose="020B0604020202020204" pitchFamily="34" charset="0"/>
              </a:rPr>
              <a:t>. </a:t>
            </a:r>
            <a:r>
              <a:rPr lang="el-GR" altLang="el-GR" dirty="0" err="1">
                <a:latin typeface="Arial" panose="020B0604020202020204" pitchFamily="34" charset="0"/>
              </a:rPr>
              <a:t>Prices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dropped</a:t>
            </a:r>
            <a:r>
              <a:rPr lang="el-GR" altLang="el-GR" dirty="0">
                <a:latin typeface="Arial" panose="020B0604020202020204" pitchFamily="34" charset="0"/>
              </a:rPr>
              <a:t> in </a:t>
            </a:r>
            <a:r>
              <a:rPr lang="el-GR" altLang="el-GR" dirty="0" err="1">
                <a:latin typeface="Arial" panose="020B0604020202020204" pitchFamily="34" charset="0"/>
              </a:rPr>
              <a:t>Jan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but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rallied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later</a:t>
            </a:r>
            <a:r>
              <a:rPr lang="el-GR" altLang="el-GR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Performance</a:t>
            </a:r>
            <a:r>
              <a:rPr lang="el-GR" altLang="el-GR" b="1" dirty="0">
                <a:latin typeface="Arial" panose="020B0604020202020204" pitchFamily="34" charset="0"/>
              </a:rPr>
              <a:t>: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Surprisingly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better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than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Year</a:t>
            </a:r>
            <a:r>
              <a:rPr lang="el-GR" altLang="el-GR" dirty="0">
                <a:latin typeface="Arial" panose="020B0604020202020204" pitchFamily="34" charset="0"/>
              </a:rPr>
              <a:t> 1.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>
                <a:latin typeface="Arial" panose="020B0604020202020204" pitchFamily="34" charset="0"/>
              </a:rPr>
              <a:t>MAPE: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b="1" dirty="0">
                <a:latin typeface="Arial" panose="020B0604020202020204" pitchFamily="34" charset="0"/>
              </a:rPr>
              <a:t>13.58%</a:t>
            </a:r>
            <a:r>
              <a:rPr lang="el-GR" altLang="el-GR" dirty="0">
                <a:latin typeface="Arial" panose="020B0604020202020204" pitchFamily="34" charset="0"/>
              </a:rPr>
              <a:t> (</a:t>
            </a:r>
            <a:r>
              <a:rPr lang="el-GR" altLang="el-GR" dirty="0" err="1">
                <a:latin typeface="Arial" panose="020B0604020202020204" pitchFamily="34" charset="0"/>
              </a:rPr>
              <a:t>vs</a:t>
            </a:r>
            <a:r>
              <a:rPr lang="el-GR" altLang="el-GR" dirty="0">
                <a:latin typeface="Arial" panose="020B0604020202020204" pitchFamily="34" charset="0"/>
              </a:rPr>
              <a:t> 17.6% in 2023).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>
                <a:latin typeface="Arial" panose="020B0604020202020204" pitchFamily="34" charset="0"/>
              </a:rPr>
              <a:t>MA(n=2):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Outperformed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Naïve</a:t>
            </a:r>
            <a:r>
              <a:rPr lang="el-GR" altLang="el-GR" dirty="0">
                <a:latin typeface="Arial" panose="020B0604020202020204" pitchFamily="34" charset="0"/>
              </a:rPr>
              <a:t> (13.25%) </a:t>
            </a:r>
            <a:r>
              <a:rPr lang="el-GR" altLang="el-GR" dirty="0" err="1">
                <a:latin typeface="Arial" panose="020B0604020202020204" pitchFamily="34" charset="0"/>
              </a:rPr>
              <a:t>by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smoothing</a:t>
            </a:r>
            <a:r>
              <a:rPr lang="el-GR" altLang="el-GR" dirty="0">
                <a:latin typeface="Arial" panose="020B0604020202020204" pitchFamily="34" charset="0"/>
              </a:rPr>
              <a:t> the </a:t>
            </a:r>
            <a:r>
              <a:rPr lang="el-GR" altLang="el-GR" dirty="0" err="1">
                <a:latin typeface="Arial" panose="020B0604020202020204" pitchFamily="34" charset="0"/>
              </a:rPr>
              <a:t>dip</a:t>
            </a:r>
            <a:r>
              <a:rPr lang="el-GR" altLang="el-GR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Why</a:t>
            </a:r>
            <a:r>
              <a:rPr lang="el-GR" altLang="el-GR" b="1" dirty="0">
                <a:latin typeface="Arial" panose="020B0604020202020204" pitchFamily="34" charset="0"/>
              </a:rPr>
              <a:t>?</a:t>
            </a:r>
            <a:r>
              <a:rPr lang="el-GR" altLang="el-GR" dirty="0">
                <a:latin typeface="Arial" panose="020B0604020202020204" pitchFamily="34" charset="0"/>
              </a:rPr>
              <a:t> The "</a:t>
            </a:r>
            <a:r>
              <a:rPr lang="el-GR" altLang="el-GR" dirty="0" err="1">
                <a:latin typeface="Arial" panose="020B0604020202020204" pitchFamily="34" charset="0"/>
              </a:rPr>
              <a:t>dip</a:t>
            </a:r>
            <a:r>
              <a:rPr lang="el-GR" altLang="el-GR" dirty="0">
                <a:latin typeface="Arial" panose="020B0604020202020204" pitchFamily="34" charset="0"/>
              </a:rPr>
              <a:t>" </a:t>
            </a:r>
            <a:r>
              <a:rPr lang="el-GR" altLang="el-GR" dirty="0" err="1">
                <a:latin typeface="Arial" panose="020B0604020202020204" pitchFamily="34" charset="0"/>
              </a:rPr>
              <a:t>kept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prices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closer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to</a:t>
            </a:r>
            <a:r>
              <a:rPr lang="el-GR" altLang="el-GR" dirty="0">
                <a:latin typeface="Arial" panose="020B0604020202020204" pitchFamily="34" charset="0"/>
              </a:rPr>
              <a:t> the </a:t>
            </a:r>
            <a:r>
              <a:rPr lang="el-GR" altLang="el-GR" dirty="0" err="1">
                <a:latin typeface="Arial" panose="020B0604020202020204" pitchFamily="34" charset="0"/>
              </a:rPr>
              <a:t>January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baseline</a:t>
            </a:r>
            <a:r>
              <a:rPr lang="el-GR" altLang="el-GR" dirty="0">
                <a:latin typeface="Arial" panose="020B0604020202020204" pitchFamily="34" charset="0"/>
              </a:rPr>
              <a:t> for </a:t>
            </a:r>
            <a:r>
              <a:rPr lang="el-GR" altLang="el-GR" dirty="0" err="1">
                <a:latin typeface="Arial" panose="020B0604020202020204" pitchFamily="34" charset="0"/>
              </a:rPr>
              <a:t>longer</a:t>
            </a:r>
            <a:r>
              <a:rPr lang="el-GR" altLang="el-GR" dirty="0">
                <a:latin typeface="Arial" panose="020B0604020202020204" pitchFamily="34" charset="0"/>
              </a:rPr>
              <a:t>, </a:t>
            </a:r>
            <a:r>
              <a:rPr lang="el-GR" altLang="el-GR" dirty="0" err="1">
                <a:latin typeface="Arial" panose="020B0604020202020204" pitchFamily="34" charset="0"/>
              </a:rPr>
              <a:t>unlike</a:t>
            </a:r>
            <a:r>
              <a:rPr lang="el-GR" altLang="el-GR" dirty="0">
                <a:latin typeface="Arial" panose="020B0604020202020204" pitchFamily="34" charset="0"/>
              </a:rPr>
              <a:t> the </a:t>
            </a:r>
            <a:r>
              <a:rPr lang="el-GR" altLang="el-GR" dirty="0" err="1">
                <a:latin typeface="Arial" panose="020B0604020202020204" pitchFamily="34" charset="0"/>
              </a:rPr>
              <a:t>explosive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rally</a:t>
            </a:r>
            <a:r>
              <a:rPr lang="el-GR" altLang="el-GR" dirty="0">
                <a:latin typeface="Arial" panose="020B0604020202020204" pitchFamily="34" charset="0"/>
              </a:rPr>
              <a:t> of 2023.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260396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Year 2 Metrics Level (2024)</a:t>
            </a:r>
            <a:endParaRPr lang="el-GR" dirty="0"/>
          </a:p>
        </p:txBody>
      </p:sp>
      <p:pic>
        <p:nvPicPr>
          <p:cNvPr id="6" name="Picture 1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4367719" cy="2465962"/>
          </a:xfrm>
          <a:prstGeom prst="rect">
            <a:avLst/>
          </a:prstGeom>
        </p:spPr>
      </p:pic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62778" y="1679019"/>
            <a:ext cx="37786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</a:t>
            </a:r>
            <a:endParaRPr lang="el-GR" altLang="el-GR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(13.5%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(4.5%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390778" y="399898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b="1" dirty="0" err="1">
                <a:latin typeface="Arial" panose="020B0604020202020204" pitchFamily="34" charset="0"/>
              </a:rPr>
              <a:t>Key</a:t>
            </a:r>
            <a:r>
              <a:rPr lang="el-GR" altLang="el-GR" b="1" dirty="0">
                <a:latin typeface="Arial" panose="020B0604020202020204" pitchFamily="34" charset="0"/>
              </a:rPr>
              <a:t> </a:t>
            </a:r>
            <a:r>
              <a:rPr lang="el-GR" altLang="el-GR" b="1" dirty="0" err="1">
                <a:latin typeface="Arial" panose="020B0604020202020204" pitchFamily="34" charset="0"/>
              </a:rPr>
              <a:t>Takeaway</a:t>
            </a:r>
            <a:endParaRPr lang="el-GR" altLang="el-GR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l-GR" altLang="el-G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Volatility</a:t>
            </a:r>
            <a:r>
              <a:rPr lang="el-GR" altLang="el-GR" b="1" dirty="0">
                <a:latin typeface="Arial" panose="020B0604020202020204" pitchFamily="34" charset="0"/>
              </a:rPr>
              <a:t>: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Increased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standard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deviation</a:t>
            </a:r>
            <a:r>
              <a:rPr lang="el-GR" altLang="el-GR" dirty="0">
                <a:latin typeface="Arial" panose="020B0604020202020204" pitchFamily="34" charset="0"/>
              </a:rPr>
              <a:t> (</a:t>
            </a:r>
            <a:r>
              <a:rPr lang="el-GR" altLang="el-GR" dirty="0" err="1">
                <a:latin typeface="Arial" panose="020B0604020202020204" pitchFamily="34" charset="0"/>
              </a:rPr>
              <a:t>Risk</a:t>
            </a:r>
            <a:r>
              <a:rPr lang="el-GR" altLang="el-GR" dirty="0">
                <a:latin typeface="Arial" panose="020B0604020202020204" pitchFamily="34" charset="0"/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l-GR" altLang="el-G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l-GR" b="1" dirty="0" err="1">
                <a:latin typeface="Arial" panose="020B0604020202020204" pitchFamily="34" charset="0"/>
              </a:rPr>
              <a:t>Stability</a:t>
            </a:r>
            <a:r>
              <a:rPr lang="el-GR" altLang="el-GR" b="1" dirty="0">
                <a:latin typeface="Arial" panose="020B0604020202020204" pitchFamily="34" charset="0"/>
              </a:rPr>
              <a:t>: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Structural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models</a:t>
            </a:r>
            <a:r>
              <a:rPr lang="el-GR" altLang="el-GR" dirty="0">
                <a:latin typeface="Arial" panose="020B0604020202020204" pitchFamily="34" charset="0"/>
              </a:rPr>
              <a:t> (</a:t>
            </a:r>
            <a:r>
              <a:rPr lang="el-GR" altLang="el-GR" dirty="0" err="1">
                <a:latin typeface="Arial" panose="020B0604020202020204" pitchFamily="34" charset="0"/>
              </a:rPr>
              <a:t>Trend</a:t>
            </a:r>
            <a:r>
              <a:rPr lang="el-GR" altLang="el-GR" dirty="0">
                <a:latin typeface="Arial" panose="020B0604020202020204" pitchFamily="34" charset="0"/>
              </a:rPr>
              <a:t>) </a:t>
            </a:r>
            <a:r>
              <a:rPr lang="el-GR" altLang="el-GR" dirty="0" err="1">
                <a:latin typeface="Arial" panose="020B0604020202020204" pitchFamily="34" charset="0"/>
              </a:rPr>
              <a:t>handle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risk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better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than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static</a:t>
            </a:r>
            <a:r>
              <a:rPr lang="el-GR" altLang="el-GR" dirty="0">
                <a:latin typeface="Arial" panose="020B0604020202020204" pitchFamily="34" charset="0"/>
              </a:rPr>
              <a:t> </a:t>
            </a:r>
            <a:r>
              <a:rPr lang="el-GR" altLang="el-GR" dirty="0" err="1">
                <a:latin typeface="Arial" panose="020B0604020202020204" pitchFamily="34" charset="0"/>
              </a:rPr>
              <a:t>averages</a:t>
            </a:r>
            <a:r>
              <a:rPr lang="el-GR" altLang="el-GR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098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Part C: Trend Diagnosis (2024)</a:t>
            </a:r>
            <a:endParaRPr lang="el-GR" dirty="0"/>
          </a:p>
        </p:txBody>
      </p:sp>
      <p:pic>
        <p:nvPicPr>
          <p:cNvPr id="6" name="Picture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1417638"/>
            <a:ext cx="5175115" cy="4754880"/>
          </a:xfrm>
          <a:prstGeom prst="rect">
            <a:avLst/>
          </a:prstGeom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463873" y="1533142"/>
            <a:ext cx="322292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(MAPE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13.58%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17.6%).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Winner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Adjusted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(MAPE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4.50%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(2023) and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4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D: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4245"/>
            <a:ext cx="8229600" cy="267284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Higher average price in 2024</a:t>
            </a:r>
            <a:r>
              <a:rPr lang="en-US" dirty="0"/>
              <a:t> → the mean jumps from ~$170 to ~$206, showing a clear upward shift in price level.</a:t>
            </a:r>
          </a:p>
          <a:p>
            <a:r>
              <a:rPr lang="en-US" b="1" dirty="0"/>
              <a:t>Volatility increased in 2024</a:t>
            </a:r>
            <a:r>
              <a:rPr lang="en-US" dirty="0"/>
              <a:t> → both standard deviation and volatility (%) are noticeably higher, meaning rougher price movements.</a:t>
            </a:r>
          </a:p>
          <a:p>
            <a:r>
              <a:rPr lang="en-US" b="1" dirty="0"/>
              <a:t>More unstable market conditions</a:t>
            </a:r>
            <a:r>
              <a:rPr lang="en-US" dirty="0"/>
              <a:t> → the rise in dispersion suggests forecasting became harder in 2024.</a:t>
            </a:r>
          </a:p>
          <a:p>
            <a:r>
              <a:rPr lang="en-US" b="1" dirty="0"/>
              <a:t>Stronger upward trend in 2024</a:t>
            </a:r>
            <a:r>
              <a:rPr lang="en-US" dirty="0"/>
              <a:t> → the higher slope indicates faster growth compared to 2023.</a:t>
            </a:r>
          </a:p>
          <a:p>
            <a:r>
              <a:rPr lang="en-US" b="1" dirty="0"/>
              <a:t>Overall takeaway</a:t>
            </a:r>
            <a:r>
              <a:rPr lang="en-US" dirty="0"/>
              <a:t> → 2023 looks more stable and predictable, while 2024 is more aggressive but riskier.</a:t>
            </a:r>
          </a:p>
          <a:p>
            <a:endParaRPr dirty="0"/>
          </a:p>
        </p:txBody>
      </p:sp>
      <p:pic>
        <p:nvPicPr>
          <p:cNvPr id="4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031" y="1417638"/>
            <a:ext cx="6757937" cy="160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 D: </a:t>
            </a:r>
            <a:r>
              <a:rPr lang="en-US" dirty="0"/>
              <a:t>Comparative </a:t>
            </a:r>
            <a:r>
              <a:rPr dirty="0"/>
              <a:t>Analysis</a:t>
            </a:r>
          </a:p>
        </p:txBody>
      </p:sp>
      <p:pic>
        <p:nvPicPr>
          <p:cNvPr id="4" name="Picture 1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389" y="1417638"/>
            <a:ext cx="6707221" cy="2182981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3323609"/>
            <a:ext cx="803709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Aggressive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(2023)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Paradox</a:t>
            </a: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/MA)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(MAPE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17.6%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➔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13.6%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</a:t>
            </a:r>
            <a:r>
              <a:rPr kumimoji="0" lang="el-GR" altLang="el-G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dip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-and-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kept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straight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Holt’s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4.10%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(2023)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4.58%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luck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Part E: </a:t>
            </a:r>
            <a:r>
              <a:rPr lang="en-US" dirty="0"/>
              <a:t>Forecast Adjustment with similar Datasets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238335"/>
            <a:ext cx="807318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(RCF)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comparable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firms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10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Microsoft,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Nvidia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Actual-to-Forecast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(A/F)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systematic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sector-wide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under-estimation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Analysis</a:t>
            </a:r>
            <a:endParaRPr lang="el-GR" dirty="0"/>
          </a:p>
        </p:txBody>
      </p:sp>
      <p:pic>
        <p:nvPicPr>
          <p:cNvPr id="7" name="Θέση περιεχομένου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36"/>
            <a:ext cx="5534526" cy="3320716"/>
          </a:xfr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4969042" y="1417638"/>
            <a:ext cx="417495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Benchmarking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multiplier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1.18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18%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2024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underweighted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(Red Line)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underestimation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bullish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399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 E</a:t>
            </a:r>
            <a:r>
              <a:rPr lang="el-GR" dirty="0"/>
              <a:t> </a:t>
            </a:r>
            <a:r>
              <a:rPr lang="en-US" dirty="0"/>
              <a:t>Metrics</a:t>
            </a:r>
            <a:endParaRPr dirty="0"/>
          </a:p>
        </p:txBody>
      </p:sp>
      <p:pic>
        <p:nvPicPr>
          <p:cNvPr id="4" name="Picture 1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010" y="1427365"/>
            <a:ext cx="5935980" cy="2095500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3187920"/>
            <a:ext cx="82296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1.18x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sector-wide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MAPE of 4.76%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Adjusted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MAPE: 17.88%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MAD: 35.42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overestimation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rallied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followed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aggressive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predictor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</a:t>
            </a:r>
            <a:r>
              <a:rPr kumimoji="0" lang="el-GR" alt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739524"/>
            <a:ext cx="812596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Level-based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MA, SES)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struggled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Relying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behind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upward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2023 and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Superiority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Decomposition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Adjusted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p=21)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winner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underlying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</a:t>
            </a:r>
            <a:endParaRPr kumimoji="0" lang="el-GR" altLang="el-G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Mathematically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21-day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valuable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merely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l-G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62525"/>
            <a:ext cx="812596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against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10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rallied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~18% in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Attempted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sector-wide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Divergence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drastically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(MAD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spiked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8.87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35.42).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Apple’s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sector’s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aggressive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asset’s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predictor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broader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market's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165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457200" y="2965705"/>
            <a:ext cx="8229600" cy="10942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 for your attention</a:t>
            </a:r>
            <a:r>
              <a:rPr lang="el-GR" sz="4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72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1592</Words>
  <Application>Microsoft Office PowerPoint</Application>
  <PresentationFormat>On-screen Show (4:3)</PresentationFormat>
  <Paragraphs>187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Exploratory Data Analysis and Forecasting of Apple Inc. (AAPL) Stock Price</vt:lpstr>
      <vt:lpstr>Agenda</vt:lpstr>
      <vt:lpstr>The Objective</vt:lpstr>
      <vt:lpstr>Part A: Data Preparation</vt:lpstr>
      <vt:lpstr>Outliers</vt:lpstr>
      <vt:lpstr>Part B: Year 1 Analysis (2023)</vt:lpstr>
      <vt:lpstr>Year 1 Models Comparison (2023)</vt:lpstr>
      <vt:lpstr>Year 1 Metrics Level (2023)</vt:lpstr>
      <vt:lpstr>Part B: Trend Models (2023)</vt:lpstr>
      <vt:lpstr>Year 1 Summary</vt:lpstr>
      <vt:lpstr>Part C: Year 2 Analysis (2024)</vt:lpstr>
      <vt:lpstr>Year 2 Models Comparison (2024)</vt:lpstr>
      <vt:lpstr>Year 2 Metrics Level (2024)</vt:lpstr>
      <vt:lpstr>Part C: Trend Diagnosis (2024)</vt:lpstr>
      <vt:lpstr>Part D: Comparative Analysis</vt:lpstr>
      <vt:lpstr>Part D: Comparative Analysis</vt:lpstr>
      <vt:lpstr>Part E: Forecast Adjustment with similar Datasets</vt:lpstr>
      <vt:lpstr>Results &amp; Analysis</vt:lpstr>
      <vt:lpstr>Part E Metrics</vt:lpstr>
      <vt:lpstr>Conclusion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and Forecasting of Apple Inc. (AAPL) Stock Price</dc:title>
  <dc:subject/>
  <dc:creator/>
  <cp:keywords/>
  <dc:description>generated using python-pptx</dc:description>
  <cp:lastModifiedBy>ser</cp:lastModifiedBy>
  <cp:revision>24</cp:revision>
  <dcterms:created xsi:type="dcterms:W3CDTF">2013-01-27T09:14:16Z</dcterms:created>
  <dcterms:modified xsi:type="dcterms:W3CDTF">2025-12-15T16:44:05Z</dcterms:modified>
  <cp:category/>
</cp:coreProperties>
</file>